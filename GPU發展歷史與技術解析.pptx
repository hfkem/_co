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Old Standard TT"/>
      <p:regular r:id="rId26"/>
      <p:bold r:id="rId27"/>
      <p:italic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ldStandardTT-regular.fntdata"/><Relationship Id="rId25" Type="http://schemas.openxmlformats.org/officeDocument/2006/relationships/slide" Target="slides/slide20.xml"/><Relationship Id="rId28" Type="http://schemas.openxmlformats.org/officeDocument/2006/relationships/font" Target="fonts/OldStandardTT-italic.fntdata"/><Relationship Id="rId27" Type="http://schemas.openxmlformats.org/officeDocument/2006/relationships/font" Target="fonts/OldStandardT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ff61caa82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ff61caa82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ff61caa82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ff61caa82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ff61caa82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ff61caa82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1ff61caa82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1ff61caa82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ff61caa82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ff61caa82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ff6e71b38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1ff6e71b38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ff6e71b38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1ff6e71b38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ff6e71b38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1ff6e71b38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ff6e71b38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ff6e71b38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ff61caa82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1ff61caa82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ff6e71b38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ff6e71b38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ff61caa82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1ff61caa82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ff6e71b38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ff6e71b38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ff6e71b38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1ff6e71b38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ff6e71b38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ff6e71b38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1ff6e71b38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1ff6e71b38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ff6e71b38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1ff6e71b38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ff6e71b38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1ff6e71b38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1ff6e71b38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1ff6e71b38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hatgpt.com/share/6761819f-2178-800c-abe9-dcfa0b1b84f9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GPU發展歷史與技術解析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顯示卡的演進與技術核心剖析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4937275" y="544150"/>
            <a:ext cx="3935400" cy="36951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47700" y="2220450"/>
            <a:ext cx="40452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內容摘要</a:t>
            </a:r>
            <a:endParaRPr/>
          </a:p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4986475" y="904225"/>
            <a:ext cx="3837000" cy="3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-41894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5450"/>
              <a:t>GPU的發展歷史</a:t>
            </a:r>
            <a:endParaRPr sz="5450"/>
          </a:p>
          <a:p>
            <a:pPr indent="-41894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5450"/>
              <a:t>GPU的技術介紹</a:t>
            </a:r>
            <a:endParaRPr sz="5450"/>
          </a:p>
          <a:p>
            <a:pPr indent="-41894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5450"/>
              <a:t>GPU的技術革新</a:t>
            </a:r>
            <a:endParaRPr sz="5450"/>
          </a:p>
          <a:p>
            <a:pPr indent="-418941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5450"/>
              <a:t>GPU的類型與應用</a:t>
            </a:r>
            <a:endParaRPr sz="54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GPU的發展歷史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GPU概念的提出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458300"/>
            <a:ext cx="8520600" cy="22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zh-TW" sz="2400">
                <a:latin typeface="Arial"/>
                <a:ea typeface="Arial"/>
                <a:cs typeface="Arial"/>
                <a:sym typeface="Arial"/>
              </a:rPr>
              <a:t>1999年，</a:t>
            </a:r>
            <a:r>
              <a:rPr b="1" lang="zh-TW" sz="2400">
                <a:latin typeface="Arial"/>
                <a:ea typeface="Arial"/>
                <a:cs typeface="Arial"/>
                <a:sym typeface="Arial"/>
              </a:rPr>
              <a:t>NVIDIA</a:t>
            </a:r>
            <a:r>
              <a:rPr lang="zh-TW" sz="2400">
                <a:latin typeface="Arial"/>
                <a:ea typeface="Arial"/>
                <a:cs typeface="Arial"/>
                <a:sym typeface="Arial"/>
              </a:rPr>
              <a:t> 提出「GPU」這一概念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latin typeface="Arial"/>
                <a:ea typeface="Arial"/>
                <a:cs typeface="Arial"/>
                <a:sym typeface="Arial"/>
              </a:rPr>
              <a:t>（此前電腦中處理視訊輸出的晶片不被視為獨立單元）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zh-TW" sz="2400">
                <a:latin typeface="Arial"/>
                <a:ea typeface="Arial"/>
                <a:cs typeface="Arial"/>
                <a:sym typeface="Arial"/>
              </a:rPr>
              <a:t>並推出了第一款被稱為GPU的顯示卡</a:t>
            </a:r>
            <a:r>
              <a:rPr b="1" lang="zh-TW" sz="2400">
                <a:latin typeface="Arial"/>
                <a:ea typeface="Arial"/>
                <a:cs typeface="Arial"/>
                <a:sym typeface="Arial"/>
              </a:rPr>
              <a:t>NVIDIA GeForce 256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6857850" y="1801400"/>
            <a:ext cx="2050800" cy="27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650400" y="1801400"/>
            <a:ext cx="1984500" cy="27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490775" y="1801400"/>
            <a:ext cx="1984500" cy="27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331150" y="1801400"/>
            <a:ext cx="1984500" cy="276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235500" y="1171675"/>
            <a:ext cx="21333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/>
              <a:t>1999年</a:t>
            </a:r>
            <a:endParaRPr sz="30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/>
              <a:t>NVIDIA 首款顯示卡問世，開創GPU時代</a:t>
            </a:r>
            <a:endParaRPr sz="2400"/>
          </a:p>
        </p:txBody>
      </p:sp>
      <p:sp>
        <p:nvSpPr>
          <p:cNvPr id="88" name="Google Shape;88;p17"/>
          <p:cNvSpPr txBox="1"/>
          <p:nvPr>
            <p:ph type="title"/>
          </p:nvPr>
        </p:nvSpPr>
        <p:spPr>
          <a:xfrm>
            <a:off x="444625" y="3393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發展里程碑</a:t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501325" y="807475"/>
            <a:ext cx="8407200" cy="36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2442950" y="1171675"/>
            <a:ext cx="21333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/>
              <a:t>2006年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/>
              <a:t>NVIDIA 推出 通用計算架構，GPU進入科學計算領域</a:t>
            </a:r>
            <a:endParaRPr sz="2400"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4650400" y="1171675"/>
            <a:ext cx="21333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/>
              <a:t>2012年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/>
              <a:t>GPU開始應用於人工智慧、深度學習領域</a:t>
            </a:r>
            <a:endParaRPr sz="2400"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6857850" y="1171675"/>
            <a:ext cx="21333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/>
              <a:t>近年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/>
              <a:t>NVIDIA RTX系列顯示卡加入</a:t>
            </a:r>
            <a:r>
              <a:rPr lang="zh-TW" sz="2400"/>
              <a:t>光線追蹤技術引領顯示卡革命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GPU的技術介紹</a:t>
            </a:r>
            <a:endParaRPr/>
          </a:p>
        </p:txBody>
      </p:sp>
      <p:sp>
        <p:nvSpPr>
          <p:cNvPr id="98" name="Google Shape;98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/>
              <a:t>GPU的工作原理</a:t>
            </a:r>
            <a:endParaRPr sz="3000"/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/>
              <a:t>GPU的執行模式</a:t>
            </a:r>
            <a:endParaRPr sz="3000"/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/>
              <a:t> 技術革變</a:t>
            </a:r>
            <a:endParaRPr sz="3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GPU的工作原理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並行處理架構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71600"/>
            <a:ext cx="8520600" cy="3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4561"/>
              <a:buFont typeface="Arial"/>
              <a:buNone/>
            </a:pPr>
            <a:r>
              <a:rPr lang="zh-TW" sz="2468">
                <a:latin typeface="Arial"/>
                <a:ea typeface="Arial"/>
                <a:cs typeface="Arial"/>
                <a:sym typeface="Arial"/>
              </a:rPr>
              <a:t>GPU 的設計著重於</a:t>
            </a:r>
            <a:r>
              <a:rPr b="1" lang="zh-TW" sz="2468">
                <a:latin typeface="Arial"/>
                <a:ea typeface="Arial"/>
                <a:cs typeface="Arial"/>
                <a:sym typeface="Arial"/>
              </a:rPr>
              <a:t>大規模並行運算</a:t>
            </a:r>
            <a:r>
              <a:rPr lang="zh-TW" sz="2468">
                <a:latin typeface="Arial"/>
                <a:ea typeface="Arial"/>
                <a:cs typeface="Arial"/>
                <a:sym typeface="Arial"/>
              </a:rPr>
              <a:t>，擁有成千上萬個微小核心，稱為「流處理器」（Streaming Processors）。這些核心能同時處理多個任務，適合大量重複運算(圖形渲染或科學計算)。</a:t>
            </a:r>
            <a:endParaRPr sz="2468">
              <a:latin typeface="Arial"/>
              <a:ea typeface="Arial"/>
              <a:cs typeface="Arial"/>
              <a:sym typeface="Arial"/>
            </a:endParaRPr>
          </a:p>
          <a:p>
            <a:pPr indent="-330242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zh-TW" sz="2286">
                <a:latin typeface="Arial"/>
                <a:ea typeface="Arial"/>
                <a:cs typeface="Arial"/>
                <a:sym typeface="Arial"/>
              </a:rPr>
              <a:t>與CPU比較</a:t>
            </a:r>
            <a:r>
              <a:rPr lang="zh-TW" sz="2286">
                <a:latin typeface="Arial"/>
                <a:ea typeface="Arial"/>
                <a:cs typeface="Arial"/>
                <a:sym typeface="Arial"/>
              </a:rPr>
              <a:t>：</a:t>
            </a:r>
            <a:endParaRPr sz="2286">
              <a:latin typeface="Arial"/>
              <a:ea typeface="Arial"/>
              <a:cs typeface="Arial"/>
              <a:sym typeface="Arial"/>
            </a:endParaRPr>
          </a:p>
          <a:p>
            <a:pPr indent="-33024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zh-TW" sz="2286">
                <a:latin typeface="Arial"/>
                <a:ea typeface="Arial"/>
                <a:cs typeface="Arial"/>
                <a:sym typeface="Arial"/>
              </a:rPr>
              <a:t>CPU適合處理</a:t>
            </a:r>
            <a:r>
              <a:rPr b="1" lang="zh-TW" sz="2286">
                <a:latin typeface="Arial"/>
                <a:ea typeface="Arial"/>
                <a:cs typeface="Arial"/>
                <a:sym typeface="Arial"/>
              </a:rPr>
              <a:t>串行任務</a:t>
            </a:r>
            <a:r>
              <a:rPr lang="zh-TW" sz="2286">
                <a:latin typeface="Arial"/>
                <a:ea typeface="Arial"/>
                <a:cs typeface="Arial"/>
                <a:sym typeface="Arial"/>
              </a:rPr>
              <a:t>，即逐步執行的邏輯指令，核心數量少但速度快。</a:t>
            </a:r>
            <a:endParaRPr sz="2286">
              <a:latin typeface="Arial"/>
              <a:ea typeface="Arial"/>
              <a:cs typeface="Arial"/>
              <a:sym typeface="Arial"/>
            </a:endParaRPr>
          </a:p>
          <a:p>
            <a:pPr indent="-33024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○"/>
            </a:pPr>
            <a:r>
              <a:rPr lang="zh-TW" sz="2286">
                <a:latin typeface="Arial"/>
                <a:ea typeface="Arial"/>
                <a:cs typeface="Arial"/>
                <a:sym typeface="Arial"/>
              </a:rPr>
              <a:t>GPU適合處理</a:t>
            </a:r>
            <a:r>
              <a:rPr b="1" lang="zh-TW" sz="2286">
                <a:latin typeface="Arial"/>
                <a:ea typeface="Arial"/>
                <a:cs typeface="Arial"/>
                <a:sym typeface="Arial"/>
              </a:rPr>
              <a:t>並行任務</a:t>
            </a:r>
            <a:r>
              <a:rPr lang="zh-TW" sz="2286">
                <a:latin typeface="Arial"/>
                <a:ea typeface="Arial"/>
                <a:cs typeface="Arial"/>
                <a:sym typeface="Arial"/>
              </a:rPr>
              <a:t>，同時執行大量運算，核心數量多但單核速度較慢。</a:t>
            </a:r>
            <a:endParaRPr sz="2286">
              <a:latin typeface="Arial"/>
              <a:ea typeface="Arial"/>
              <a:cs typeface="Arial"/>
              <a:sym typeface="Arial"/>
            </a:endParaRPr>
          </a:p>
          <a:p>
            <a:pPr indent="-33024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zh-TW" sz="2286">
                <a:latin typeface="Arial"/>
                <a:ea typeface="Arial"/>
                <a:cs typeface="Arial"/>
                <a:sym typeface="Arial"/>
              </a:rPr>
              <a:t>數據流模型</a:t>
            </a:r>
            <a:r>
              <a:rPr lang="zh-TW" sz="2286">
                <a:latin typeface="Arial"/>
                <a:ea typeface="Arial"/>
                <a:cs typeface="Arial"/>
                <a:sym typeface="Arial"/>
              </a:rPr>
              <a:t>：</a:t>
            </a:r>
            <a:br>
              <a:rPr lang="zh-TW" sz="2286">
                <a:latin typeface="Arial"/>
                <a:ea typeface="Arial"/>
                <a:cs typeface="Arial"/>
                <a:sym typeface="Arial"/>
              </a:rPr>
            </a:br>
            <a:r>
              <a:rPr lang="zh-TW" sz="2286">
                <a:latin typeface="Arial"/>
                <a:ea typeface="Arial"/>
                <a:cs typeface="Arial"/>
                <a:sym typeface="Arial"/>
              </a:rPr>
              <a:t>GPU 利用「數據流處理」模式，將大量數據拆分成不同批次，並行輸入到各處理器進行計算，然後輸出至顯示緩衝區（Frame Buffer），最終將畫面呈現在螢幕上。</a:t>
            </a:r>
            <a:endParaRPr sz="2286">
              <a:latin typeface="Arial"/>
              <a:ea typeface="Arial"/>
              <a:cs typeface="Arial"/>
              <a:sym typeface="Arial"/>
            </a:endParaRPr>
          </a:p>
          <a:p>
            <a:pPr indent="-330242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zh-TW" sz="2286">
                <a:latin typeface="Arial"/>
                <a:ea typeface="Arial"/>
                <a:cs typeface="Arial"/>
                <a:sym typeface="Arial"/>
              </a:rPr>
              <a:t>示例</a:t>
            </a:r>
            <a:r>
              <a:rPr lang="zh-TW" sz="2286">
                <a:latin typeface="Arial"/>
                <a:ea typeface="Arial"/>
                <a:cs typeface="Arial"/>
                <a:sym typeface="Arial"/>
              </a:rPr>
              <a:t>：</a:t>
            </a:r>
            <a:br>
              <a:rPr lang="zh-TW" sz="2286">
                <a:latin typeface="Arial"/>
                <a:ea typeface="Arial"/>
                <a:cs typeface="Arial"/>
                <a:sym typeface="Arial"/>
              </a:rPr>
            </a:br>
            <a:r>
              <a:rPr lang="zh-TW" sz="2286">
                <a:latin typeface="Arial"/>
                <a:ea typeface="Arial"/>
                <a:cs typeface="Arial"/>
                <a:sym typeface="Arial"/>
              </a:rPr>
              <a:t>在遊戲中，GPU 會同時渲染數百萬個像素點，並計算光照、紋理映射、陰影等內容，達到高幀率輸出。</a:t>
            </a:r>
            <a:endParaRPr sz="2286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GPU的執行模式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圖形渲染模式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71600"/>
            <a:ext cx="8520600" cy="3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700">
                <a:latin typeface="Arial"/>
                <a:ea typeface="Arial"/>
                <a:cs typeface="Arial"/>
                <a:sym typeface="Arial"/>
              </a:rPr>
              <a:t>GPU 的主要任務是</a:t>
            </a:r>
            <a:r>
              <a:rPr b="1" lang="zh-TW" sz="1700">
                <a:latin typeface="Arial"/>
                <a:ea typeface="Arial"/>
                <a:cs typeface="Arial"/>
                <a:sym typeface="Arial"/>
              </a:rPr>
              <a:t>圖形渲染</a:t>
            </a:r>
            <a:r>
              <a:rPr lang="zh-TW" sz="1700">
                <a:latin typeface="Arial"/>
                <a:ea typeface="Arial"/>
                <a:cs typeface="Arial"/>
                <a:sym typeface="Arial"/>
              </a:rPr>
              <a:t>，即將3D數據轉換成2D畫面，顯示在螢幕上。過程包括：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b="1" lang="zh-TW" sz="1600">
                <a:latin typeface="Arial"/>
                <a:ea typeface="Arial"/>
                <a:cs typeface="Arial"/>
                <a:sym typeface="Arial"/>
              </a:rPr>
              <a:t>頂點著色（Vertex Shading）</a:t>
            </a:r>
            <a:r>
              <a:rPr lang="zh-TW" sz="1600">
                <a:latin typeface="Arial"/>
                <a:ea typeface="Arial"/>
                <a:cs typeface="Arial"/>
                <a:sym typeface="Arial"/>
              </a:rPr>
              <a:t>：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計算物體的頂點位置，並將其投影到螢幕空間中。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頂點著色器會處理座標轉換與光照計算，確保物體位置正確顯示。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b="1" lang="zh-TW" sz="1600">
                <a:latin typeface="Arial"/>
                <a:ea typeface="Arial"/>
                <a:cs typeface="Arial"/>
                <a:sym typeface="Arial"/>
              </a:rPr>
              <a:t>光柵化（Rasterization）</a:t>
            </a:r>
            <a:r>
              <a:rPr lang="zh-TW" sz="1600">
                <a:latin typeface="Arial"/>
                <a:ea typeface="Arial"/>
                <a:cs typeface="Arial"/>
                <a:sym typeface="Arial"/>
              </a:rPr>
              <a:t>：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將頂點轉換成像素（Pixel），形成2D平面圖像。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這一步會根據視角調整物體的大小、角度等，並劃分畫面上的每個像素點。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b="1" lang="zh-TW" sz="1600">
                <a:latin typeface="Arial"/>
                <a:ea typeface="Arial"/>
                <a:cs typeface="Arial"/>
                <a:sym typeface="Arial"/>
              </a:rPr>
              <a:t>像素著色（Pixel Shading）</a:t>
            </a:r>
            <a:r>
              <a:rPr lang="zh-TW" sz="1600">
                <a:latin typeface="Arial"/>
                <a:ea typeface="Arial"/>
                <a:cs typeface="Arial"/>
                <a:sym typeface="Arial"/>
              </a:rPr>
              <a:t>：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計算每個像素的顏色、紋理、光照和透明度。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像素著色器處理精細效果，例如陰影、反射、水面波紋等。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計算模式（General-Purpose Computing on GPU）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700">
                <a:latin typeface="Arial"/>
                <a:ea typeface="Arial"/>
                <a:cs typeface="Arial"/>
                <a:sym typeface="Arial"/>
              </a:rPr>
              <a:t>GPGPU技術讓 GPU 不再局限於圖形運算，而是能用於</a:t>
            </a:r>
            <a:r>
              <a:rPr b="1" lang="zh-TW" sz="1700">
                <a:latin typeface="Arial"/>
                <a:ea typeface="Arial"/>
                <a:cs typeface="Arial"/>
                <a:sym typeface="Arial"/>
              </a:rPr>
              <a:t>通用計算</a:t>
            </a:r>
            <a:r>
              <a:rPr lang="zh-TW" sz="1700">
                <a:latin typeface="Arial"/>
                <a:ea typeface="Arial"/>
                <a:cs typeface="Arial"/>
                <a:sym typeface="Arial"/>
              </a:rPr>
              <a:t>。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zh-TW" sz="1600">
                <a:latin typeface="Arial"/>
                <a:ea typeface="Arial"/>
                <a:cs typeface="Arial"/>
                <a:sym typeface="Arial"/>
              </a:rPr>
              <a:t>CUDA（Compute Unified Device Architecture）</a:t>
            </a:r>
            <a:r>
              <a:rPr lang="zh-TW" sz="1600">
                <a:latin typeface="Arial"/>
                <a:ea typeface="Arial"/>
                <a:cs typeface="Arial"/>
                <a:sym typeface="Arial"/>
              </a:rPr>
              <a:t>：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由 NVIDIA 推出，讓開發者能使用 C/C++ 語言編寫 GPU 加速程式。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適用於科學模擬、人工智慧訓練與金融計算等。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zh-TW" sz="1600">
                <a:latin typeface="Arial"/>
                <a:ea typeface="Arial"/>
                <a:cs typeface="Arial"/>
                <a:sym typeface="Arial"/>
              </a:rPr>
              <a:t>OpenCL</a:t>
            </a:r>
            <a:r>
              <a:rPr lang="zh-TW" sz="1600">
                <a:latin typeface="Arial"/>
                <a:ea typeface="Arial"/>
                <a:cs typeface="Arial"/>
                <a:sym typeface="Arial"/>
              </a:rPr>
              <a:t>：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跨平台標準，支援多家硬體廠商（如 AMD、Intel 等）。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實現異構計算，允許 GPU 和 CPU 協同運作。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zh-TW" sz="1600">
                <a:latin typeface="Arial"/>
                <a:ea typeface="Arial"/>
                <a:cs typeface="Arial"/>
                <a:sym typeface="Arial"/>
              </a:rPr>
              <a:t>實際應用</a:t>
            </a:r>
            <a:r>
              <a:rPr lang="zh-TW" sz="1600">
                <a:latin typeface="Arial"/>
                <a:ea typeface="Arial"/>
                <a:cs typeface="Arial"/>
                <a:sym typeface="Arial"/>
              </a:rPr>
              <a:t>：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AI 訓練：GPU 加速神經網絡的大量矩陣運算，縮短訓練時間。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密碼破解：GPU 能快速計算大量哈希值，提高密碼暴力破解效率。</a:t>
            </a:r>
            <a:endParaRPr b="1" sz="2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技術革變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Shader 核心演進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700">
                <a:latin typeface="Arial"/>
                <a:ea typeface="Arial"/>
                <a:cs typeface="Arial"/>
                <a:sym typeface="Arial"/>
              </a:rPr>
              <a:t>Shader 是 GPU 內部用於執行渲染指令的核心單元，經歷了從</a:t>
            </a:r>
            <a:r>
              <a:rPr b="1" lang="zh-TW" sz="1700">
                <a:latin typeface="Arial"/>
                <a:ea typeface="Arial"/>
                <a:cs typeface="Arial"/>
                <a:sym typeface="Arial"/>
              </a:rPr>
              <a:t>固定管線</a:t>
            </a:r>
            <a:r>
              <a:rPr lang="zh-TW" sz="1700">
                <a:latin typeface="Arial"/>
                <a:ea typeface="Arial"/>
                <a:cs typeface="Arial"/>
                <a:sym typeface="Arial"/>
              </a:rPr>
              <a:t>到</a:t>
            </a:r>
            <a:r>
              <a:rPr b="1" lang="zh-TW" sz="1700">
                <a:latin typeface="Arial"/>
                <a:ea typeface="Arial"/>
                <a:cs typeface="Arial"/>
                <a:sym typeface="Arial"/>
              </a:rPr>
              <a:t>可編程管線</a:t>
            </a:r>
            <a:r>
              <a:rPr lang="zh-TW" sz="1700">
                <a:latin typeface="Arial"/>
                <a:ea typeface="Arial"/>
                <a:cs typeface="Arial"/>
                <a:sym typeface="Arial"/>
              </a:rPr>
              <a:t>的演進：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zh-TW" sz="1600">
                <a:latin typeface="Arial"/>
                <a:ea typeface="Arial"/>
                <a:cs typeface="Arial"/>
                <a:sym typeface="Arial"/>
              </a:rPr>
              <a:t>固定管線（Fixed Pipeline）</a:t>
            </a:r>
            <a:r>
              <a:rPr lang="zh-TW" sz="1600">
                <a:latin typeface="Arial"/>
                <a:ea typeface="Arial"/>
                <a:cs typeface="Arial"/>
                <a:sym typeface="Arial"/>
              </a:rPr>
              <a:t>：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早期顯示卡只能執行預定義好的圖形渲染任務，靈活性低。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zh-TW" sz="1600">
                <a:latin typeface="Arial"/>
                <a:ea typeface="Arial"/>
                <a:cs typeface="Arial"/>
                <a:sym typeface="Arial"/>
              </a:rPr>
              <a:t>可編程管線（Programmable Pipeline）</a:t>
            </a:r>
            <a:r>
              <a:rPr lang="zh-TW" sz="1600">
                <a:latin typeface="Arial"/>
                <a:ea typeface="Arial"/>
                <a:cs typeface="Arial"/>
                <a:sym typeface="Arial"/>
              </a:rPr>
              <a:t>：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開發者可以自定義頂點著色器、像素著色器等，創造更豐富的視覺效果。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zh-TW" sz="1600">
                <a:latin typeface="Arial"/>
                <a:ea typeface="Arial"/>
                <a:cs typeface="Arial"/>
                <a:sym typeface="Arial"/>
              </a:rPr>
              <a:t>統一渲染架構（Unified Shader Architecture）</a:t>
            </a:r>
            <a:r>
              <a:rPr lang="zh-TW" sz="1600">
                <a:latin typeface="Arial"/>
                <a:ea typeface="Arial"/>
                <a:cs typeface="Arial"/>
                <a:sym typeface="Arial"/>
              </a:rPr>
              <a:t>：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顯示卡不再區分頂點與像素著色器，所有 Shader 核心能動態分配任務，提升資源利用率。</a:t>
            </a:r>
            <a:endParaRPr b="1" sz="2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光線追蹤技術（Ray-Tracing）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700">
                <a:latin typeface="Arial"/>
                <a:ea typeface="Arial"/>
                <a:cs typeface="Arial"/>
                <a:sym typeface="Arial"/>
              </a:rPr>
              <a:t>光線追蹤是一種模擬光線運動的渲染技術，可實現更逼真的光影效果。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zh-TW" sz="1600">
                <a:latin typeface="Arial"/>
                <a:ea typeface="Arial"/>
                <a:cs typeface="Arial"/>
                <a:sym typeface="Arial"/>
              </a:rPr>
              <a:t>傳統渲染 vs 光線追蹤</a:t>
            </a:r>
            <a:r>
              <a:rPr lang="zh-TW" sz="1600">
                <a:latin typeface="Arial"/>
                <a:ea typeface="Arial"/>
                <a:cs typeface="Arial"/>
                <a:sym typeface="Arial"/>
              </a:rPr>
              <a:t>：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傳統渲染（光柵化）：快速但效果有限，難以模擬反射、折射等效果。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光線追蹤：模擬光線從光源到物體的路徑，計算反射、折射與陰影，效果極度真實。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zh-TW" sz="1600">
                <a:latin typeface="Arial"/>
                <a:ea typeface="Arial"/>
                <a:cs typeface="Arial"/>
                <a:sym typeface="Arial"/>
              </a:rPr>
              <a:t>RTX 核心</a:t>
            </a:r>
            <a:r>
              <a:rPr lang="zh-TW" sz="1600">
                <a:latin typeface="Arial"/>
                <a:ea typeface="Arial"/>
                <a:cs typeface="Arial"/>
                <a:sym typeface="Arial"/>
              </a:rPr>
              <a:t>：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NVIDIA 在 Turing 架構中引入「RT 核心」，專門加速光線追蹤計算。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zh-TW" sz="1600">
                <a:latin typeface="Arial"/>
                <a:ea typeface="Arial"/>
                <a:cs typeface="Arial"/>
                <a:sym typeface="Arial"/>
              </a:rPr>
              <a:t>應用</a:t>
            </a:r>
            <a:r>
              <a:rPr lang="zh-TW" sz="1600">
                <a:latin typeface="Arial"/>
                <a:ea typeface="Arial"/>
                <a:cs typeface="Arial"/>
                <a:sym typeface="Arial"/>
              </a:rPr>
              <a:t>：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遊戲：NVIDIA RTX 系列顯示卡支援光線追蹤技術。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電影特效：光線追蹤可用於高品質動畫與特效製作。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DLSS 與 AI 技術</a:t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700">
                <a:latin typeface="Arial"/>
                <a:ea typeface="Arial"/>
                <a:cs typeface="Arial"/>
                <a:sym typeface="Arial"/>
              </a:rPr>
              <a:t>DLSS（Deep Learning Super Sampling）是 NVIDIA 推出的 AI 抗鋸齒技術：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zh-TW" sz="1600">
                <a:latin typeface="Arial"/>
                <a:ea typeface="Arial"/>
                <a:cs typeface="Arial"/>
                <a:sym typeface="Arial"/>
              </a:rPr>
              <a:t>工作原理</a:t>
            </a:r>
            <a:r>
              <a:rPr lang="zh-TW" sz="1600">
                <a:latin typeface="Arial"/>
                <a:ea typeface="Arial"/>
                <a:cs typeface="Arial"/>
                <a:sym typeface="Arial"/>
              </a:rPr>
              <a:t>：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利用深度學習模型，預測畫面細節並將低解析度影像升級為高解析度。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相比傳統抗鋸齒技術，DLSS 提供更高效能且更好的畫質。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b="1" lang="zh-TW" sz="1600">
                <a:latin typeface="Arial"/>
                <a:ea typeface="Arial"/>
                <a:cs typeface="Arial"/>
                <a:sym typeface="Arial"/>
              </a:rPr>
              <a:t>應用場景</a:t>
            </a:r>
            <a:r>
              <a:rPr lang="zh-TW" sz="1600">
                <a:latin typeface="Arial"/>
                <a:ea typeface="Arial"/>
                <a:cs typeface="Arial"/>
                <a:sym typeface="Arial"/>
              </a:rPr>
              <a:t>：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支援高幀率與高解析度遊戲運行，優化 VR 與 4K 顯示效果。</a:t>
            </a:r>
            <a:endParaRPr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GPU的類型與應用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顯示卡的主要類型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600">
                <a:latin typeface="Arial"/>
                <a:ea typeface="Arial"/>
                <a:cs typeface="Arial"/>
                <a:sym typeface="Arial"/>
              </a:rPr>
              <a:t>集成GPU</a:t>
            </a:r>
            <a:r>
              <a:rPr lang="zh-TW" sz="1600">
                <a:latin typeface="Arial"/>
                <a:ea typeface="Arial"/>
                <a:cs typeface="Arial"/>
                <a:sym typeface="Arial"/>
              </a:rPr>
              <a:t>：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集成於CPU內部，適合日常辦公與輕度遊戲。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代表產品：Intel UHD / AMD APU系列。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600">
                <a:latin typeface="Arial"/>
                <a:ea typeface="Arial"/>
                <a:cs typeface="Arial"/>
                <a:sym typeface="Arial"/>
              </a:rPr>
              <a:t>獨立GPU</a:t>
            </a:r>
            <a:r>
              <a:rPr lang="zh-TW" sz="1600">
                <a:latin typeface="Arial"/>
                <a:ea typeface="Arial"/>
                <a:cs typeface="Arial"/>
                <a:sym typeface="Arial"/>
              </a:rPr>
              <a:t>：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獨立顯示卡，提供高效能圖形處理。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代表產品：NVIDIA GeForce系列 / AMD Radeon系列。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600">
                <a:latin typeface="Arial"/>
                <a:ea typeface="Arial"/>
                <a:cs typeface="Arial"/>
                <a:sym typeface="Arial"/>
              </a:rPr>
              <a:t>專業GPU</a:t>
            </a:r>
            <a:r>
              <a:rPr lang="zh-TW" sz="1600">
                <a:latin typeface="Arial"/>
                <a:ea typeface="Arial"/>
                <a:cs typeface="Arial"/>
                <a:sym typeface="Arial"/>
              </a:rPr>
              <a:t>：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用於專業設計、科學計算與AI訓練。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zh-TW" sz="1600">
                <a:latin typeface="Arial"/>
                <a:ea typeface="Arial"/>
                <a:cs typeface="Arial"/>
                <a:sym typeface="Arial"/>
              </a:rPr>
              <a:t>代表產品：NVIDIA Quadro / Tesla系列、AMD Radeon Pro。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GPU的應用領域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400">
                <a:latin typeface="Arial"/>
                <a:ea typeface="Arial"/>
                <a:cs typeface="Arial"/>
                <a:sym typeface="Arial"/>
              </a:rPr>
              <a:t>遊戲產業</a:t>
            </a:r>
            <a:r>
              <a:rPr lang="zh-TW" sz="2400">
                <a:latin typeface="Arial"/>
                <a:ea typeface="Arial"/>
                <a:cs typeface="Arial"/>
                <a:sym typeface="Arial"/>
              </a:rPr>
              <a:t>：高效能渲染技術，支援光線追蹤與VR遊戲。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2400">
                <a:latin typeface="Arial"/>
                <a:ea typeface="Arial"/>
                <a:cs typeface="Arial"/>
                <a:sym typeface="Arial"/>
              </a:rPr>
              <a:t>圖形設計與影片製作</a:t>
            </a:r>
            <a:r>
              <a:rPr lang="zh-TW" sz="2400">
                <a:latin typeface="Arial"/>
                <a:ea typeface="Arial"/>
                <a:cs typeface="Arial"/>
                <a:sym typeface="Arial"/>
              </a:rPr>
              <a:t>：支援3D建模、渲染與後期製作。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2400">
                <a:latin typeface="Arial"/>
                <a:ea typeface="Arial"/>
                <a:cs typeface="Arial"/>
                <a:sym typeface="Arial"/>
              </a:rPr>
              <a:t>人工智慧與深度學習</a:t>
            </a:r>
            <a:r>
              <a:rPr lang="zh-TW" sz="2400">
                <a:latin typeface="Arial"/>
                <a:ea typeface="Arial"/>
                <a:cs typeface="Arial"/>
                <a:sym typeface="Arial"/>
              </a:rPr>
              <a:t>：利用GPU加速神經網絡訓練與推論。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2400">
                <a:latin typeface="Arial"/>
                <a:ea typeface="Arial"/>
                <a:cs typeface="Arial"/>
                <a:sym typeface="Arial"/>
              </a:rPr>
              <a:t>科學計算</a:t>
            </a:r>
            <a:r>
              <a:rPr lang="zh-TW" sz="2400">
                <a:latin typeface="Arial"/>
                <a:ea typeface="Arial"/>
                <a:cs typeface="Arial"/>
                <a:sym typeface="Arial"/>
              </a:rPr>
              <a:t>：應用於天氣預測、醫療影像處理與模擬運算。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資料來源</a:t>
            </a:r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全程由ChatGPT對話內容提供</a:t>
            </a:r>
            <a:r>
              <a:rPr lang="zh-TW" u="sng">
                <a:solidFill>
                  <a:schemeClr val="hlink"/>
                </a:solidFill>
                <a:hlinkClick r:id="rId3"/>
              </a:rPr>
              <a:t>https://chatgpt.com/share/6761819f-2178-800c-abe9-dcfa0b1b84f9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感謝觀看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